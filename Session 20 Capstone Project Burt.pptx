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78" r:id="rId2"/>
    <p:sldId id="283" r:id="rId3"/>
    <p:sldId id="294" r:id="rId4"/>
    <p:sldId id="293" r:id="rId5"/>
    <p:sldId id="296" r:id="rId6"/>
    <p:sldId id="297" r:id="rId7"/>
    <p:sldId id="298" r:id="rId8"/>
    <p:sldId id="299" r:id="rId9"/>
    <p:sldId id="300" r:id="rId10"/>
    <p:sldId id="301" r:id="rId11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9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70"/>
    <p:restoredTop sz="94675"/>
  </p:normalViewPr>
  <p:slideViewPr>
    <p:cSldViewPr>
      <p:cViewPr varScale="1">
        <p:scale>
          <a:sx n="111" d="100"/>
          <a:sy n="111" d="100"/>
        </p:scale>
        <p:origin x="224" y="3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D7DC4-5A64-6D49-B918-6D21025F165E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68CA4F-F842-2C4A-BFD5-FBA55C592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244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</a:t>
            </a:r>
            <a:r>
              <a:rPr lang="en-US" dirty="0" err="1"/>
              <a:t>Signature_Date</a:t>
            </a:r>
            <a:r>
              <a:rPr lang="en-US" dirty="0"/>
              <a:t> &gt;= '1980-01-01’;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68CA4F-F842-2C4A-BFD5-FBA55C5921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778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The European Union overwhelmingly dominates total funding, far exceeding all other regions.</a:t>
            </a: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ACP countries and the United Kingdom follow at a much lower scale.</a:t>
            </a: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This distribution reflects the EIB’s core mandate to support EU development while providing targeted financing to partner regions.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68CA4F-F842-2C4A-BFD5-FBA55C5921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00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Energy, Transport, and Industry receive the highest total financing, accounting for most of the portfolio.</a:t>
            </a: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Social sectors (Health, Education, Water) receive steady but comparatively smaller investment.</a:t>
            </a: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These patterns underline EIB priorities around infrastructure, energy security and economic development.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68CA4F-F842-2C4A-BFD5-FBA55C5921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5296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Project volumes rose sharply after 2000, indicating a major expansion of EIB lending activity.</a:t>
            </a: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Average signed amounts fluctuate across years in response to macroeconomic cycles and large investment programmes.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68CA4F-F842-2C4A-BFD5-FBA55C5921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515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A logistic regression model was developed to classify projects as above- or below-median signed amount.</a:t>
            </a: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After feature scaling, the model achieved ~65% accuracy.</a:t>
            </a: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Sector and year were the strongest predictors; EU vs non-EU region contributed moderate predictive influence.</a:t>
            </a: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The model is suitable for exploratory insight, not operational decision-making.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68CA4F-F842-2C4A-BFD5-FBA55C5921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97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Use Power BI slicers (Region, Sector, Year) to explore funding distribution interactively.</a:t>
            </a: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Track annual shifts in project volumes and signed amounts to support planning and reporting.</a:t>
            </a: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Treat machine-learning outputs as analytical indicators rather than prescriptive funding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68CA4F-F842-2C4A-BFD5-FBA55C5921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022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The European Union remains the dominant funding recipient</a:t>
            </a:r>
            <a:r>
              <a:rPr lang="en-GB" dirty="0"/>
              <a:t>, confirming the EIB’s core mandate while still supporting priority regions such as ACP countries and the UK.</a:t>
            </a:r>
          </a:p>
          <a:p>
            <a:r>
              <a:rPr lang="en-GB" b="1" dirty="0"/>
              <a:t>Energy, Transport and Industry attract the largest investments</a:t>
            </a:r>
            <a:r>
              <a:rPr lang="en-GB" dirty="0"/>
              <a:t>, reflecting long-term strategic needs around infrastructure, mobility and economic resilience.</a:t>
            </a:r>
          </a:p>
          <a:p>
            <a:r>
              <a:rPr lang="en-GB" b="1" dirty="0"/>
              <a:t>Funding volumes and project counts increase sharply after 2000</a:t>
            </a:r>
            <a:r>
              <a:rPr lang="en-GB" dirty="0"/>
              <a:t>, indicating sustained expansion in EIB activity and the scaling of large infrastructure programmes.</a:t>
            </a:r>
          </a:p>
          <a:p>
            <a:r>
              <a:rPr lang="en-GB" b="1" dirty="0"/>
              <a:t>A simple ML model achieved ~65% accuracy</a:t>
            </a:r>
            <a:r>
              <a:rPr lang="en-GB" dirty="0"/>
              <a:t>, showing that sector and year meaningfully influence project value, while also confirming that ML should support—rather than drive—funding decisions.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68CA4F-F842-2C4A-BFD5-FBA55C5921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985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10880" y="745052"/>
            <a:ext cx="10874375" cy="7888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1C46F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22222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1C46F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22222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1C46F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033692" y="2318219"/>
            <a:ext cx="5429884" cy="5421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399" y="8229599"/>
                </a:moveTo>
                <a:lnTo>
                  <a:pt x="0" y="8229599"/>
                </a:lnTo>
                <a:lnTo>
                  <a:pt x="0" y="0"/>
                </a:lnTo>
                <a:lnTo>
                  <a:pt x="14630399" y="0"/>
                </a:lnTo>
                <a:lnTo>
                  <a:pt x="14630399" y="8229599"/>
                </a:lnTo>
                <a:close/>
              </a:path>
            </a:pathLst>
          </a:custGeom>
          <a:solidFill>
            <a:srgbClr val="D464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1C46F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399" y="8229599"/>
                </a:moveTo>
                <a:lnTo>
                  <a:pt x="0" y="8229599"/>
                </a:lnTo>
                <a:lnTo>
                  <a:pt x="0" y="0"/>
                </a:lnTo>
                <a:lnTo>
                  <a:pt x="14630399" y="0"/>
                </a:lnTo>
                <a:lnTo>
                  <a:pt x="14630399" y="8229599"/>
                </a:lnTo>
                <a:close/>
              </a:path>
            </a:pathLst>
          </a:custGeom>
          <a:solidFill>
            <a:srgbClr val="FFF9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44738" y="745052"/>
            <a:ext cx="11005820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1C46F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19339" y="1953023"/>
            <a:ext cx="12391721" cy="418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22222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399" y="8229599"/>
                </a:moveTo>
                <a:lnTo>
                  <a:pt x="0" y="8229599"/>
                </a:lnTo>
                <a:lnTo>
                  <a:pt x="0" y="0"/>
                </a:lnTo>
                <a:lnTo>
                  <a:pt x="14630399" y="0"/>
                </a:lnTo>
                <a:lnTo>
                  <a:pt x="14630399" y="8229599"/>
                </a:lnTo>
                <a:close/>
              </a:path>
            </a:pathLst>
          </a:custGeom>
          <a:solidFill>
            <a:srgbClr val="3C4E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 marR="5080">
              <a:lnSpc>
                <a:spcPts val="5180"/>
              </a:lnSpc>
              <a:spcBef>
                <a:spcPts val="755"/>
              </a:spcBef>
            </a:pPr>
            <a:r>
              <a:rPr spc="625" dirty="0">
                <a:solidFill>
                  <a:srgbClr val="F6F6F6"/>
                </a:solidFill>
              </a:rPr>
              <a:t>Capstone</a:t>
            </a:r>
            <a:r>
              <a:rPr spc="290" dirty="0">
                <a:solidFill>
                  <a:srgbClr val="F6F6F6"/>
                </a:solidFill>
              </a:rPr>
              <a:t> </a:t>
            </a:r>
            <a:r>
              <a:rPr spc="535" dirty="0">
                <a:solidFill>
                  <a:srgbClr val="F6F6F6"/>
                </a:solidFill>
              </a:rPr>
              <a:t>Project</a:t>
            </a:r>
            <a:endParaRPr spc="565" dirty="0">
              <a:solidFill>
                <a:srgbClr val="F6F6F6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16663D7-C704-B156-2CCE-AED5C74D361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80021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Funding Patterns and High-Value Loan Drivers in EIB-Financed Projects (1980-2025)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52549"/>
            <a:ext cx="14629765" cy="2177415"/>
            <a:chOff x="0" y="6052549"/>
            <a:chExt cx="14629765" cy="21774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052549"/>
              <a:ext cx="14626589" cy="21770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45576" y="7283894"/>
              <a:ext cx="2884072" cy="812980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0875">
              <a:lnSpc>
                <a:spcPct val="100000"/>
              </a:lnSpc>
              <a:spcBef>
                <a:spcPts val="100"/>
              </a:spcBef>
            </a:pPr>
            <a:r>
              <a:rPr spc="640" dirty="0"/>
              <a:t>Business</a:t>
            </a:r>
            <a:r>
              <a:rPr spc="295" dirty="0"/>
              <a:t> </a:t>
            </a:r>
            <a:r>
              <a:rPr spc="580" dirty="0"/>
              <a:t>Question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A61B55B-3430-5D64-8C24-A4AB075A1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2400657"/>
          </a:xfrm>
        </p:spPr>
        <p:txBody>
          <a:bodyPr/>
          <a:lstStyle/>
          <a:p>
            <a:r>
              <a:rPr lang="en-US" b="1" dirty="0"/>
              <a:t>My question is:</a:t>
            </a:r>
          </a:p>
          <a:p>
            <a:endParaRPr lang="en-US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Simple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Clear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Useful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Business-relevant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7E9EB2C1-4503-6352-ECBA-E20962B63492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791200" y="1760164"/>
            <a:ext cx="8672376" cy="4793036"/>
          </a:xfrm>
        </p:spPr>
        <p:txBody>
          <a:bodyPr/>
          <a:lstStyle/>
          <a:p>
            <a:r>
              <a:rPr lang="en-US" b="1" dirty="0"/>
              <a:t>Primary Question:</a:t>
            </a:r>
          </a:p>
          <a:p>
            <a:r>
              <a:rPr lang="en-US" b="1" dirty="0"/>
              <a:t>What factors are associated with high-value loans in EIB-financed projects?</a:t>
            </a:r>
          </a:p>
          <a:p>
            <a:endParaRPr lang="en-US" b="1" dirty="0"/>
          </a:p>
          <a:p>
            <a:r>
              <a:rPr lang="en-US" b="1" dirty="0"/>
              <a:t>Secondary Questions:</a:t>
            </a:r>
          </a:p>
          <a:p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do signed amounts vary across </a:t>
            </a:r>
            <a:r>
              <a:rPr lang="en-US" b="1" dirty="0"/>
              <a:t>regions</a:t>
            </a:r>
            <a:r>
              <a:rPr lang="en-US" dirty="0"/>
              <a:t> (EU vs non-EU)?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Which </a:t>
            </a:r>
            <a:r>
              <a:rPr lang="en-US" b="1" dirty="0"/>
              <a:t>sectors</a:t>
            </a:r>
            <a:r>
              <a:rPr lang="en-US" dirty="0"/>
              <a:t> receive the highest financing?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do </a:t>
            </a:r>
            <a:r>
              <a:rPr lang="en-US" b="1" dirty="0"/>
              <a:t>time trends</a:t>
            </a:r>
            <a:r>
              <a:rPr lang="en-US" dirty="0"/>
              <a:t> affect financing levels?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proportion of projects are </a:t>
            </a:r>
            <a:r>
              <a:rPr lang="en-US" b="1" dirty="0"/>
              <a:t>high-value</a:t>
            </a:r>
            <a:r>
              <a:rPr lang="en-US" dirty="0"/>
              <a:t> (above median)?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Can I build a simple machine-learning model to predict high-value loans based on sector, region, and year? </a:t>
            </a: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53486" y="132724"/>
            <a:ext cx="2476269" cy="148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ECC08-83E2-F105-D562-F76E5A79B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0EF9D4B-B649-B592-B35B-003402C059BC}"/>
              </a:ext>
            </a:extLst>
          </p:cNvPr>
          <p:cNvGrpSpPr/>
          <p:nvPr/>
        </p:nvGrpSpPr>
        <p:grpSpPr>
          <a:xfrm>
            <a:off x="0" y="6052549"/>
            <a:ext cx="14629765" cy="2177415"/>
            <a:chOff x="0" y="6052549"/>
            <a:chExt cx="14629765" cy="217741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FFEA545B-B96E-2F05-96C7-0923F483FA4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052549"/>
              <a:ext cx="14626589" cy="2177050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4610351-AA58-BC37-FBBC-9B5035A17B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45576" y="7283894"/>
              <a:ext cx="2884072" cy="812980"/>
            </a:xfrm>
            <a:prstGeom prst="rect">
              <a:avLst/>
            </a:prstGeom>
          </p:spPr>
        </p:pic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86006DA5-306B-EC59-E4F8-067532657E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98725">
              <a:lnSpc>
                <a:spcPct val="100000"/>
              </a:lnSpc>
              <a:spcBef>
                <a:spcPts val="100"/>
              </a:spcBef>
            </a:pPr>
            <a:r>
              <a:rPr lang="en-GB" spc="780" dirty="0"/>
              <a:t>Data Overview</a:t>
            </a:r>
            <a:endParaRPr spc="610" dirty="0"/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2E2C8C63-0886-2255-B817-DF8B95218D0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53486" y="132724"/>
            <a:ext cx="2476269" cy="1485760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087EEEE9-84C8-587F-DEEC-18144E495F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19339" y="1460660"/>
            <a:ext cx="8678979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Dataset includes: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~25,000 projects (after cleaning)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Region (European Union, Africa-Caribbean-Pacific, UK,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Sector (Energy, Transport, Credit Lines…)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Signed Amount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Signature Date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Country, Project Name, Status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Key Points: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Highly skewed signed amounts (median €26.2M, max €1.91B)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Decades of timeline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Suitable for binary classification (high-value vs low-value)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335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6D43FF-C8ED-2BFE-60F9-411CACB56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F0BA85F-790F-E163-7A18-A047A41E715D}"/>
              </a:ext>
            </a:extLst>
          </p:cNvPr>
          <p:cNvGrpSpPr/>
          <p:nvPr/>
        </p:nvGrpSpPr>
        <p:grpSpPr>
          <a:xfrm>
            <a:off x="-9" y="685800"/>
            <a:ext cx="14629765" cy="8229600"/>
            <a:chOff x="0" y="0"/>
            <a:chExt cx="14629765" cy="822960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31FAF396-462A-E458-72A2-D1EB0ECCD82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3482" y="0"/>
              <a:ext cx="12680261" cy="7009574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FA28319-5685-A67A-BFBA-876B42C14170}"/>
                </a:ext>
              </a:extLst>
            </p:cNvPr>
            <p:cNvSpPr/>
            <p:nvPr/>
          </p:nvSpPr>
          <p:spPr>
            <a:xfrm>
              <a:off x="2541646" y="2306790"/>
              <a:ext cx="858519" cy="1336675"/>
            </a:xfrm>
            <a:custGeom>
              <a:avLst/>
              <a:gdLst/>
              <a:ahLst/>
              <a:cxnLst/>
              <a:rect l="l" t="t" r="r" b="b"/>
              <a:pathLst>
                <a:path w="858520" h="1336675">
                  <a:moveTo>
                    <a:pt x="857985" y="1336499"/>
                  </a:moveTo>
                  <a:lnTo>
                    <a:pt x="0" y="1336499"/>
                  </a:lnTo>
                  <a:lnTo>
                    <a:pt x="0" y="0"/>
                  </a:lnTo>
                  <a:lnTo>
                    <a:pt x="857985" y="0"/>
                  </a:lnTo>
                  <a:lnTo>
                    <a:pt x="857985" y="1336499"/>
                  </a:lnTo>
                  <a:close/>
                </a:path>
              </a:pathLst>
            </a:custGeom>
            <a:solidFill>
              <a:srgbClr val="FFF9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775D28D1-1C79-C661-0B34-833E02872C8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052549"/>
              <a:ext cx="14626589" cy="2177050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DCFC7C8F-4EE8-13A7-117F-4A8444474BE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745576" y="7283894"/>
              <a:ext cx="2884072" cy="812980"/>
            </a:xfrm>
            <a:prstGeom prst="rect">
              <a:avLst/>
            </a:prstGeom>
          </p:spPr>
        </p:pic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5AED0A5B-5B9B-586B-8531-1F91CC913418}"/>
              </a:ext>
            </a:extLst>
          </p:cNvPr>
          <p:cNvSpPr txBox="1"/>
          <p:nvPr/>
        </p:nvSpPr>
        <p:spPr>
          <a:xfrm>
            <a:off x="1287174" y="1744972"/>
            <a:ext cx="3140710" cy="141541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 marR="5080" indent="45720">
              <a:lnSpc>
                <a:spcPts val="5180"/>
              </a:lnSpc>
              <a:spcBef>
                <a:spcPts val="755"/>
              </a:spcBef>
            </a:pPr>
            <a:r>
              <a:rPr sz="4800" b="1" spc="615" dirty="0">
                <a:solidFill>
                  <a:srgbClr val="1C46F3"/>
                </a:solidFill>
                <a:latin typeface="Calibri"/>
                <a:cs typeface="Calibri"/>
              </a:rPr>
              <a:t>Capstone </a:t>
            </a:r>
            <a:r>
              <a:rPr sz="4800" b="1" spc="660" dirty="0">
                <a:solidFill>
                  <a:srgbClr val="1C46F3"/>
                </a:solidFill>
                <a:latin typeface="Calibri"/>
                <a:cs typeface="Calibri"/>
              </a:rPr>
              <a:t>Workﬂow</a:t>
            </a:r>
            <a:endParaRPr sz="4800" dirty="0">
              <a:latin typeface="Calibri"/>
              <a:cs typeface="Calibri"/>
            </a:endParaRPr>
          </a:p>
        </p:txBody>
      </p:sp>
      <p:grpSp>
        <p:nvGrpSpPr>
          <p:cNvPr id="8" name="object 8">
            <a:extLst>
              <a:ext uri="{FF2B5EF4-FFF2-40B4-BE49-F238E27FC236}">
                <a16:creationId xmlns:a16="http://schemas.microsoft.com/office/drawing/2014/main" id="{9A10AA93-3572-BED6-DDC6-83C73DA770E6}"/>
              </a:ext>
            </a:extLst>
          </p:cNvPr>
          <p:cNvGrpSpPr/>
          <p:nvPr/>
        </p:nvGrpSpPr>
        <p:grpSpPr>
          <a:xfrm>
            <a:off x="2112513" y="132724"/>
            <a:ext cx="12517755" cy="5573395"/>
            <a:chOff x="2112513" y="132724"/>
            <a:chExt cx="12517755" cy="5573395"/>
          </a:xfrm>
        </p:grpSpPr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96500890-A0EA-8DFB-BF1C-4F7A506FB5B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53487" y="132724"/>
              <a:ext cx="2476269" cy="1485760"/>
            </a:xfrm>
            <a:prstGeom prst="rect">
              <a:avLst/>
            </a:prstGeom>
          </p:spPr>
        </p:pic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28DF5033-4B9E-C833-0FA6-145671DC8D3F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12513" y="3990284"/>
              <a:ext cx="1715316" cy="1715316"/>
            </a:xfrm>
            <a:prstGeom prst="rect">
              <a:avLst/>
            </a:prstGeom>
          </p:spPr>
        </p:pic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658C5A6-26B0-B70C-D31B-DC9037CB61B9}"/>
              </a:ext>
            </a:extLst>
          </p:cNvPr>
          <p:cNvSpPr/>
          <p:nvPr/>
        </p:nvSpPr>
        <p:spPr>
          <a:xfrm>
            <a:off x="7848600" y="3990284"/>
            <a:ext cx="1447800" cy="338981"/>
          </a:xfrm>
          <a:prstGeom prst="rect">
            <a:avLst/>
          </a:prstGeom>
          <a:solidFill>
            <a:srgbClr val="FFF9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66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BEF29-3030-D4FD-88BC-E62A8BE0E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62447C3-91B0-D934-5FAA-22CB4F84DE50}"/>
              </a:ext>
            </a:extLst>
          </p:cNvPr>
          <p:cNvGrpSpPr/>
          <p:nvPr/>
        </p:nvGrpSpPr>
        <p:grpSpPr>
          <a:xfrm>
            <a:off x="0" y="6052549"/>
            <a:ext cx="14629765" cy="2177415"/>
            <a:chOff x="0" y="6052549"/>
            <a:chExt cx="14629765" cy="217741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8556906-C1D0-1823-3248-72817A516F9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052549"/>
              <a:ext cx="14626589" cy="2177050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DB02C60-F8D9-459D-A45C-C039068BA75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45576" y="7283894"/>
              <a:ext cx="2884072" cy="812980"/>
            </a:xfrm>
            <a:prstGeom prst="rect">
              <a:avLst/>
            </a:prstGeom>
          </p:spPr>
        </p:pic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83F22579-ACCA-62CD-B96C-040410D78BDC}"/>
              </a:ext>
            </a:extLst>
          </p:cNvPr>
          <p:cNvSpPr txBox="1"/>
          <p:nvPr/>
        </p:nvSpPr>
        <p:spPr>
          <a:xfrm>
            <a:off x="914400" y="2295035"/>
            <a:ext cx="10632440" cy="4201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600" b="1" spc="305" dirty="0">
                <a:solidFill>
                  <a:srgbClr val="222222"/>
                </a:solidFill>
                <a:latin typeface="Calibri"/>
                <a:cs typeface="Calibri"/>
              </a:rPr>
              <a:t>Funding</a:t>
            </a:r>
            <a:r>
              <a:rPr sz="2600" b="1" spc="260" dirty="0">
                <a:solidFill>
                  <a:srgbClr val="222222"/>
                </a:solidFill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354965" indent="-292735">
              <a:lnSpc>
                <a:spcPct val="100000"/>
              </a:lnSpc>
              <a:spcBef>
                <a:spcPts val="312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600" b="1" spc="204" dirty="0">
                <a:solidFill>
                  <a:srgbClr val="222222"/>
                </a:solidFill>
                <a:latin typeface="Calibri"/>
                <a:cs typeface="Calibri"/>
              </a:rPr>
              <a:t>The European Union</a:t>
            </a:r>
          </a:p>
          <a:p>
            <a:pPr marL="354965" indent="-292735">
              <a:lnSpc>
                <a:spcPct val="100000"/>
              </a:lnSpc>
              <a:spcBef>
                <a:spcPts val="312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600" b="1" spc="204" dirty="0">
                <a:solidFill>
                  <a:srgbClr val="222222"/>
                </a:solidFill>
                <a:latin typeface="Calibri"/>
                <a:cs typeface="Calibri"/>
              </a:rPr>
              <a:t>ACP countries/UK follow</a:t>
            </a:r>
          </a:p>
          <a:p>
            <a:pPr marL="354965" indent="-292735">
              <a:lnSpc>
                <a:spcPct val="100000"/>
              </a:lnSpc>
              <a:spcBef>
                <a:spcPts val="312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600" b="1" spc="204" dirty="0">
                <a:solidFill>
                  <a:srgbClr val="222222"/>
                </a:solidFill>
                <a:latin typeface="Calibri"/>
                <a:cs typeface="Calibri"/>
              </a:rPr>
              <a:t>Mandate to support EU</a:t>
            </a:r>
          </a:p>
          <a:p>
            <a:pPr marL="354965" indent="-292735">
              <a:lnSpc>
                <a:spcPct val="100000"/>
              </a:lnSpc>
              <a:spcBef>
                <a:spcPts val="3120"/>
              </a:spcBef>
              <a:buFont typeface="Arial"/>
              <a:buChar char="•"/>
              <a:tabLst>
                <a:tab pos="354965" algn="l"/>
              </a:tabLst>
            </a:pPr>
            <a:endParaRPr lang="en-GB" sz="2600" b="1" spc="204" dirty="0">
              <a:solidFill>
                <a:srgbClr val="222222"/>
              </a:solidFill>
              <a:latin typeface="Calibri"/>
              <a:cs typeface="Calibri"/>
            </a:endParaRPr>
          </a:p>
          <a:p>
            <a:pPr marL="62230">
              <a:lnSpc>
                <a:spcPct val="100000"/>
              </a:lnSpc>
              <a:spcBef>
                <a:spcPts val="3120"/>
              </a:spcBef>
              <a:tabLst>
                <a:tab pos="354965" algn="l"/>
              </a:tabLst>
            </a:pPr>
            <a:r>
              <a:rPr lang="en-GB" sz="1300" dirty="0">
                <a:latin typeface="Calibri"/>
                <a:cs typeface="Calibri"/>
              </a:rPr>
              <a:t>*European Free Trade Association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C2755AC1-FCF6-3AA0-5C4D-52F91734E1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98725">
              <a:lnSpc>
                <a:spcPct val="100000"/>
              </a:lnSpc>
              <a:spcBef>
                <a:spcPts val="100"/>
              </a:spcBef>
            </a:pPr>
            <a:r>
              <a:rPr lang="en-GB" spc="780" dirty="0"/>
              <a:t>Key Insight 1 </a:t>
            </a:r>
            <a:r>
              <a:rPr lang="en-GB" b="0" spc="780" dirty="0"/>
              <a:t>(Region)</a:t>
            </a:r>
            <a:endParaRPr spc="610" dirty="0"/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21A8330-CB58-78DF-5941-64C1C19E8D2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53486" y="132724"/>
            <a:ext cx="2476269" cy="1485760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DA98A426-B59E-AEB1-3853-BE70393CE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2578" y="1752600"/>
            <a:ext cx="8964445" cy="5396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2517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CAD8D-C22E-9F7B-73D9-BCD05EFB7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356050C-0A8D-F1FE-BF51-C0BD9FE99FC8}"/>
              </a:ext>
            </a:extLst>
          </p:cNvPr>
          <p:cNvGrpSpPr/>
          <p:nvPr/>
        </p:nvGrpSpPr>
        <p:grpSpPr>
          <a:xfrm>
            <a:off x="0" y="6052549"/>
            <a:ext cx="14629765" cy="2177415"/>
            <a:chOff x="0" y="6052549"/>
            <a:chExt cx="14629765" cy="217741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D1F38E2B-F55C-B107-D966-A2313C0BC4A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052549"/>
              <a:ext cx="14626589" cy="2177050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3B1A363-FADC-6160-B41E-60E82F6C508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45576" y="7283894"/>
              <a:ext cx="2884072" cy="812980"/>
            </a:xfrm>
            <a:prstGeom prst="rect">
              <a:avLst/>
            </a:prstGeom>
          </p:spPr>
        </p:pic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95C49C66-658C-6E99-A754-FE1B8567156A}"/>
              </a:ext>
            </a:extLst>
          </p:cNvPr>
          <p:cNvSpPr txBox="1"/>
          <p:nvPr/>
        </p:nvSpPr>
        <p:spPr>
          <a:xfrm>
            <a:off x="762000" y="2295035"/>
            <a:ext cx="10632440" cy="36035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600" b="1" spc="305" dirty="0">
                <a:solidFill>
                  <a:srgbClr val="222222"/>
                </a:solidFill>
                <a:latin typeface="Calibri"/>
                <a:cs typeface="Calibri"/>
              </a:rPr>
              <a:t>Funding</a:t>
            </a:r>
            <a:r>
              <a:rPr sz="2600" b="1" spc="260" dirty="0">
                <a:solidFill>
                  <a:srgbClr val="222222"/>
                </a:solidFill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354965" indent="-292735">
              <a:lnSpc>
                <a:spcPct val="100000"/>
              </a:lnSpc>
              <a:spcBef>
                <a:spcPts val="312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400" b="1" spc="204" dirty="0">
                <a:solidFill>
                  <a:srgbClr val="222222"/>
                </a:solidFill>
                <a:latin typeface="Calibri"/>
                <a:cs typeface="Calibri"/>
              </a:rPr>
              <a:t>Transport/Energy/Industry</a:t>
            </a:r>
          </a:p>
          <a:p>
            <a:pPr marL="354965" indent="-292735">
              <a:lnSpc>
                <a:spcPct val="100000"/>
              </a:lnSpc>
              <a:spcBef>
                <a:spcPts val="312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600" b="1" spc="204" dirty="0">
                <a:solidFill>
                  <a:srgbClr val="222222"/>
                </a:solidFill>
                <a:latin typeface="Calibri"/>
                <a:cs typeface="Calibri"/>
              </a:rPr>
              <a:t>Water/Education/Health</a:t>
            </a:r>
          </a:p>
          <a:p>
            <a:pPr marL="354965" indent="-292735">
              <a:lnSpc>
                <a:spcPct val="100000"/>
              </a:lnSpc>
              <a:spcBef>
                <a:spcPts val="312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600" b="1" spc="204" dirty="0">
                <a:solidFill>
                  <a:srgbClr val="222222"/>
                </a:solidFill>
                <a:latin typeface="Calibri"/>
                <a:cs typeface="Calibri"/>
              </a:rPr>
              <a:t>Security</a:t>
            </a:r>
          </a:p>
          <a:p>
            <a:pPr marL="354965" indent="-292735">
              <a:lnSpc>
                <a:spcPct val="100000"/>
              </a:lnSpc>
              <a:spcBef>
                <a:spcPts val="312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600" b="1" spc="204" dirty="0">
                <a:solidFill>
                  <a:srgbClr val="222222"/>
                </a:solidFill>
                <a:latin typeface="Calibri"/>
                <a:cs typeface="Calibri"/>
              </a:rPr>
              <a:t>Economic development</a:t>
            </a:r>
            <a:endParaRPr sz="2600" b="1" dirty="0">
              <a:latin typeface="Calibri"/>
              <a:cs typeface="Calibri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BEF07066-264C-6410-6DD9-6FB91513CC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98725">
              <a:lnSpc>
                <a:spcPct val="100000"/>
              </a:lnSpc>
              <a:spcBef>
                <a:spcPts val="100"/>
              </a:spcBef>
            </a:pPr>
            <a:r>
              <a:rPr lang="en-GB" spc="780" dirty="0"/>
              <a:t>Key Insight 2 </a:t>
            </a:r>
            <a:r>
              <a:rPr lang="en-GB" b="0" spc="780" dirty="0"/>
              <a:t>(Sector)</a:t>
            </a:r>
            <a:endParaRPr spc="610" dirty="0"/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3B384CEC-EF7A-6A51-96D5-ABBEA6D5E07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53486" y="132724"/>
            <a:ext cx="2476269" cy="1485760"/>
          </a:xfrm>
          <a:prstGeom prst="rect">
            <a:avLst/>
          </a:prstGeom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47604140-4C5F-0AAB-8FCB-9C1623507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9" y="1752600"/>
            <a:ext cx="9120611" cy="544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2776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3A4DA-249C-BA8C-B4B3-04F1C6AB3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A1F5B80-3C8A-5AE7-99D7-70499D3BFA2C}"/>
              </a:ext>
            </a:extLst>
          </p:cNvPr>
          <p:cNvGrpSpPr/>
          <p:nvPr/>
        </p:nvGrpSpPr>
        <p:grpSpPr>
          <a:xfrm>
            <a:off x="0" y="6052549"/>
            <a:ext cx="14629765" cy="2177415"/>
            <a:chOff x="0" y="6052549"/>
            <a:chExt cx="14629765" cy="217741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F8E0AA6-E31A-6B7A-3A4C-E5874E87002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052549"/>
              <a:ext cx="14626589" cy="2177050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1A87390-CCC3-C7AD-AF3C-346DB6D8E68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45576" y="7283894"/>
              <a:ext cx="2884072" cy="812980"/>
            </a:xfrm>
            <a:prstGeom prst="rect">
              <a:avLst/>
            </a:prstGeom>
          </p:spPr>
        </p:pic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FACE097D-A08C-3C62-FECF-6A7EB0DCF8BD}"/>
              </a:ext>
            </a:extLst>
          </p:cNvPr>
          <p:cNvSpPr txBox="1"/>
          <p:nvPr/>
        </p:nvSpPr>
        <p:spPr>
          <a:xfrm>
            <a:off x="1101253" y="2295035"/>
            <a:ext cx="10632440" cy="28058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600" b="1" spc="305" dirty="0">
                <a:solidFill>
                  <a:srgbClr val="222222"/>
                </a:solidFill>
                <a:latin typeface="Calibri"/>
                <a:cs typeface="Calibri"/>
              </a:rPr>
              <a:t>Time</a:t>
            </a:r>
            <a:r>
              <a:rPr sz="2600" b="1" spc="260" dirty="0">
                <a:solidFill>
                  <a:srgbClr val="222222"/>
                </a:solidFill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354965" indent="-292735">
              <a:lnSpc>
                <a:spcPct val="100000"/>
              </a:lnSpc>
              <a:spcBef>
                <a:spcPts val="312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600" b="1" spc="204" dirty="0">
                <a:solidFill>
                  <a:srgbClr val="222222"/>
                </a:solidFill>
                <a:latin typeface="Calibri"/>
                <a:cs typeface="Calibri"/>
              </a:rPr>
              <a:t>Volume rise after 2000</a:t>
            </a:r>
          </a:p>
          <a:p>
            <a:pPr marL="354965" indent="-292735">
              <a:lnSpc>
                <a:spcPct val="100000"/>
              </a:lnSpc>
              <a:spcBef>
                <a:spcPts val="312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600" b="1" spc="204" dirty="0">
                <a:solidFill>
                  <a:srgbClr val="222222"/>
                </a:solidFill>
                <a:latin typeface="Calibri"/>
                <a:cs typeface="Calibri"/>
              </a:rPr>
              <a:t>Macroeconomic cycles</a:t>
            </a:r>
          </a:p>
          <a:p>
            <a:pPr marL="354965" indent="-292735">
              <a:lnSpc>
                <a:spcPct val="100000"/>
              </a:lnSpc>
              <a:spcBef>
                <a:spcPts val="312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600" b="1" spc="204" dirty="0">
                <a:solidFill>
                  <a:srgbClr val="222222"/>
                </a:solidFill>
                <a:latin typeface="Calibri"/>
                <a:cs typeface="Calibri"/>
              </a:rPr>
              <a:t>Large investments</a:t>
            </a:r>
            <a:endParaRPr sz="2600" b="1" dirty="0">
              <a:latin typeface="Calibri"/>
              <a:cs typeface="Calibri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0DC9A0D8-A6BE-BB1F-E594-7CD2E7A1D0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98725">
              <a:lnSpc>
                <a:spcPct val="100000"/>
              </a:lnSpc>
              <a:spcBef>
                <a:spcPts val="100"/>
              </a:spcBef>
            </a:pPr>
            <a:r>
              <a:rPr lang="en-GB" spc="780" dirty="0"/>
              <a:t>Key Insight 3 </a:t>
            </a:r>
            <a:r>
              <a:rPr lang="en-GB" b="0" spc="780" dirty="0"/>
              <a:t>(Trend)</a:t>
            </a:r>
            <a:endParaRPr spc="610" dirty="0"/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8444D691-AB88-A1DB-5CEA-3C67C60CB97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53486" y="132724"/>
            <a:ext cx="2476269" cy="1485760"/>
          </a:xfrm>
          <a:prstGeom prst="rect">
            <a:avLst/>
          </a:prstGeom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0561C318-F147-C963-1C57-14747BAD2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52600"/>
            <a:ext cx="8367576" cy="5410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0132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2E0C5-6EBF-C3FC-CBCF-82B8C1F06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DF4B387-DFCE-598C-2133-1F7B9FAAA0CA}"/>
              </a:ext>
            </a:extLst>
          </p:cNvPr>
          <p:cNvGrpSpPr/>
          <p:nvPr/>
        </p:nvGrpSpPr>
        <p:grpSpPr>
          <a:xfrm>
            <a:off x="0" y="6052549"/>
            <a:ext cx="14629765" cy="2177415"/>
            <a:chOff x="0" y="6052549"/>
            <a:chExt cx="14629765" cy="217741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97DFAA8A-388B-4EA0-3648-2C2ADE10527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052549"/>
              <a:ext cx="14626589" cy="2177050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6BDFDFC-65F4-9589-A8B4-FC9E6CB2E46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45576" y="7283894"/>
              <a:ext cx="2884072" cy="812980"/>
            </a:xfrm>
            <a:prstGeom prst="rect">
              <a:avLst/>
            </a:prstGeom>
          </p:spPr>
        </p:pic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534FA73A-46D6-B9B2-6C2D-819182D4050F}"/>
              </a:ext>
            </a:extLst>
          </p:cNvPr>
          <p:cNvSpPr txBox="1"/>
          <p:nvPr/>
        </p:nvSpPr>
        <p:spPr>
          <a:xfrm>
            <a:off x="990600" y="2295035"/>
            <a:ext cx="10632440" cy="36035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600" b="1" spc="305" dirty="0">
                <a:solidFill>
                  <a:srgbClr val="222222"/>
                </a:solidFill>
                <a:latin typeface="Calibri"/>
                <a:cs typeface="Calibri"/>
              </a:rPr>
              <a:t>Findings</a:t>
            </a:r>
            <a:r>
              <a:rPr sz="2600" b="1" spc="260" dirty="0">
                <a:solidFill>
                  <a:srgbClr val="222222"/>
                </a:solidFill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354965" indent="-292735">
              <a:lnSpc>
                <a:spcPct val="100000"/>
              </a:lnSpc>
              <a:spcBef>
                <a:spcPts val="312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600" b="1" spc="204" dirty="0">
                <a:solidFill>
                  <a:srgbClr val="222222"/>
                </a:solidFill>
                <a:latin typeface="Calibri"/>
                <a:cs typeface="Calibri"/>
              </a:rPr>
              <a:t>~65% accuracy</a:t>
            </a:r>
          </a:p>
          <a:p>
            <a:pPr marL="354965" indent="-292735">
              <a:lnSpc>
                <a:spcPct val="100000"/>
              </a:lnSpc>
              <a:spcBef>
                <a:spcPts val="312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600" b="1" spc="204" dirty="0">
                <a:solidFill>
                  <a:srgbClr val="222222"/>
                </a:solidFill>
                <a:latin typeface="Calibri"/>
                <a:cs typeface="Calibri"/>
              </a:rPr>
              <a:t>Sector/Year</a:t>
            </a:r>
          </a:p>
          <a:p>
            <a:pPr marL="354965" indent="-292735">
              <a:lnSpc>
                <a:spcPct val="100000"/>
              </a:lnSpc>
              <a:spcBef>
                <a:spcPts val="312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600" b="1" spc="204" dirty="0">
                <a:solidFill>
                  <a:srgbClr val="222222"/>
                </a:solidFill>
                <a:latin typeface="Calibri"/>
                <a:cs typeface="Calibri"/>
              </a:rPr>
              <a:t>Exploratory insight</a:t>
            </a:r>
          </a:p>
          <a:p>
            <a:pPr marL="354965" indent="-292735">
              <a:lnSpc>
                <a:spcPct val="100000"/>
              </a:lnSpc>
              <a:spcBef>
                <a:spcPts val="312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600" b="1" spc="204" dirty="0">
                <a:solidFill>
                  <a:srgbClr val="222222"/>
                </a:solidFill>
                <a:latin typeface="Calibri"/>
                <a:cs typeface="Calibri"/>
              </a:rPr>
              <a:t>Not operational decisions</a:t>
            </a:r>
            <a:endParaRPr sz="2600" b="1" dirty="0">
              <a:latin typeface="Calibri"/>
              <a:cs typeface="Calibri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6A99D983-86B8-DA76-5DB6-0FA03B9F5D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98725">
              <a:lnSpc>
                <a:spcPct val="100000"/>
              </a:lnSpc>
              <a:spcBef>
                <a:spcPts val="100"/>
              </a:spcBef>
            </a:pPr>
            <a:r>
              <a:rPr lang="en-GB" spc="780" dirty="0"/>
              <a:t>ML</a:t>
            </a:r>
            <a:endParaRPr spc="610" dirty="0"/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F7BCE37F-1587-D162-2CA2-3C19F412268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53486" y="132724"/>
            <a:ext cx="2476269" cy="1485760"/>
          </a:xfrm>
          <a:prstGeom prst="rect">
            <a:avLst/>
          </a:prstGeom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A9515D2D-5FE5-5422-63E2-952192A5A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6708" y="1828800"/>
            <a:ext cx="8866797" cy="535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09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20337-1761-2276-AA8C-819E4CA1A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EBB0765-52D1-18DB-F5C9-30B24F67FC26}"/>
              </a:ext>
            </a:extLst>
          </p:cNvPr>
          <p:cNvGrpSpPr/>
          <p:nvPr/>
        </p:nvGrpSpPr>
        <p:grpSpPr>
          <a:xfrm>
            <a:off x="0" y="6052549"/>
            <a:ext cx="14629765" cy="2177415"/>
            <a:chOff x="0" y="6052549"/>
            <a:chExt cx="14629765" cy="217741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B80C53CE-EE33-B3A9-9A8A-D7A003675F6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052549"/>
              <a:ext cx="14626589" cy="2177050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CE9E7FD-A146-FD97-EE91-05F0CEBE1F7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45576" y="7283894"/>
              <a:ext cx="2884072" cy="812980"/>
            </a:xfrm>
            <a:prstGeom prst="rect">
              <a:avLst/>
            </a:prstGeom>
          </p:spPr>
        </p:pic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61C2B4B1-484B-B00C-66EA-0EFDE5827FA4}"/>
              </a:ext>
            </a:extLst>
          </p:cNvPr>
          <p:cNvSpPr txBox="1"/>
          <p:nvPr/>
        </p:nvSpPr>
        <p:spPr>
          <a:xfrm>
            <a:off x="1101253" y="2295035"/>
            <a:ext cx="10632440" cy="28058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292735">
              <a:lnSpc>
                <a:spcPct val="100000"/>
              </a:lnSpc>
              <a:spcBef>
                <a:spcPts val="312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600" b="1" spc="204" dirty="0">
                <a:solidFill>
                  <a:srgbClr val="222222"/>
                </a:solidFill>
                <a:latin typeface="Calibri"/>
                <a:cs typeface="Calibri"/>
              </a:rPr>
              <a:t>Use Power BI to explore funding distribution interactively</a:t>
            </a:r>
          </a:p>
          <a:p>
            <a:pPr marL="354965" indent="-292735">
              <a:lnSpc>
                <a:spcPct val="100000"/>
              </a:lnSpc>
              <a:spcBef>
                <a:spcPts val="312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600" b="1" spc="204" dirty="0">
                <a:solidFill>
                  <a:srgbClr val="222222"/>
                </a:solidFill>
                <a:latin typeface="Calibri"/>
                <a:cs typeface="Calibri"/>
              </a:rPr>
              <a:t>Track annual shifts in project volumes and signed amounts</a:t>
            </a:r>
          </a:p>
          <a:p>
            <a:pPr marL="354965" indent="-292735">
              <a:lnSpc>
                <a:spcPct val="100000"/>
              </a:lnSpc>
              <a:spcBef>
                <a:spcPts val="312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600" b="1" spc="204" dirty="0">
                <a:solidFill>
                  <a:srgbClr val="222222"/>
                </a:solidFill>
                <a:latin typeface="Calibri"/>
                <a:cs typeface="Calibri"/>
              </a:rPr>
              <a:t>Support planning and reporting</a:t>
            </a:r>
          </a:p>
          <a:p>
            <a:pPr marL="354965" indent="-292735">
              <a:lnSpc>
                <a:spcPct val="100000"/>
              </a:lnSpc>
              <a:spcBef>
                <a:spcPts val="312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600" b="1" spc="204" dirty="0">
                <a:solidFill>
                  <a:srgbClr val="222222"/>
                </a:solidFill>
                <a:latin typeface="Calibri"/>
                <a:cs typeface="Calibri"/>
              </a:rPr>
              <a:t>Treat machine-learning outputs as analytical indicators</a:t>
            </a:r>
            <a:endParaRPr sz="2600" b="1" dirty="0">
              <a:latin typeface="Calibri"/>
              <a:cs typeface="Calibri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857A4784-A6CA-851E-7BC9-50DC8C14BF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98725">
              <a:lnSpc>
                <a:spcPct val="100000"/>
              </a:lnSpc>
              <a:spcBef>
                <a:spcPts val="100"/>
              </a:spcBef>
            </a:pPr>
            <a:r>
              <a:rPr lang="en-GB" spc="780" dirty="0"/>
              <a:t>Recommendations</a:t>
            </a:r>
            <a:endParaRPr spc="610" dirty="0"/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ECCB5706-E09C-4F20-2587-FD7B74AFC67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53486" y="132724"/>
            <a:ext cx="2476269" cy="148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725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D6967-2A51-82B1-AF86-BAD0EC6F5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C57D02C-204E-5045-EDF5-BE9272FFD057}"/>
              </a:ext>
            </a:extLst>
          </p:cNvPr>
          <p:cNvGrpSpPr/>
          <p:nvPr/>
        </p:nvGrpSpPr>
        <p:grpSpPr>
          <a:xfrm>
            <a:off x="0" y="6052549"/>
            <a:ext cx="14629765" cy="2177415"/>
            <a:chOff x="0" y="6052549"/>
            <a:chExt cx="14629765" cy="217741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D070E5C3-672A-FF18-94DF-D11DFC0A332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052549"/>
              <a:ext cx="14626589" cy="2177050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D2D343E-DD28-FE7A-2EFD-147EFBA375A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45576" y="7283894"/>
              <a:ext cx="2884072" cy="812980"/>
            </a:xfrm>
            <a:prstGeom prst="rect">
              <a:avLst/>
            </a:prstGeom>
          </p:spPr>
        </p:pic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FE8CD63B-C68F-A1FB-87B1-D5EC006EC37D}"/>
              </a:ext>
            </a:extLst>
          </p:cNvPr>
          <p:cNvSpPr txBox="1"/>
          <p:nvPr/>
        </p:nvSpPr>
        <p:spPr>
          <a:xfrm>
            <a:off x="1101253" y="1640031"/>
            <a:ext cx="10632440" cy="440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292735">
              <a:lnSpc>
                <a:spcPct val="100000"/>
              </a:lnSpc>
              <a:spcBef>
                <a:spcPts val="312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600" b="1" spc="204" dirty="0">
                <a:solidFill>
                  <a:srgbClr val="222222"/>
                </a:solidFill>
                <a:latin typeface="Calibri"/>
                <a:cs typeface="Calibri"/>
              </a:rPr>
              <a:t>The European Union remains the dominant funding recipient</a:t>
            </a:r>
          </a:p>
          <a:p>
            <a:pPr marL="354965" indent="-292735">
              <a:lnSpc>
                <a:spcPct val="100000"/>
              </a:lnSpc>
              <a:spcBef>
                <a:spcPts val="312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600" b="1" spc="204" dirty="0">
                <a:solidFill>
                  <a:srgbClr val="222222"/>
                </a:solidFill>
                <a:latin typeface="Calibri"/>
                <a:cs typeface="Calibri"/>
              </a:rPr>
              <a:t>Energy, Transport and Industry attract the largest investments</a:t>
            </a:r>
          </a:p>
          <a:p>
            <a:pPr marL="354965" indent="-292735">
              <a:lnSpc>
                <a:spcPct val="100000"/>
              </a:lnSpc>
              <a:spcBef>
                <a:spcPts val="312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600" b="1" spc="204" dirty="0">
                <a:solidFill>
                  <a:srgbClr val="222222"/>
                </a:solidFill>
                <a:latin typeface="Calibri"/>
                <a:cs typeface="Calibri"/>
              </a:rPr>
              <a:t>Funding volumes and project counts increase sharply &gt;2000</a:t>
            </a:r>
          </a:p>
          <a:p>
            <a:pPr marL="354965" indent="-292735">
              <a:lnSpc>
                <a:spcPct val="100000"/>
              </a:lnSpc>
              <a:spcBef>
                <a:spcPts val="3120"/>
              </a:spcBef>
              <a:buFont typeface="Arial"/>
              <a:buChar char="•"/>
              <a:tabLst>
                <a:tab pos="354965" algn="l"/>
              </a:tabLst>
            </a:pPr>
            <a:r>
              <a:rPr lang="en-GB" sz="2600" b="1" spc="204" dirty="0">
                <a:solidFill>
                  <a:srgbClr val="222222"/>
                </a:solidFill>
                <a:latin typeface="Calibri"/>
                <a:cs typeface="Calibri"/>
              </a:rPr>
              <a:t>A simple ML model achieved ~65% accuracy</a:t>
            </a:r>
          </a:p>
          <a:p>
            <a:pPr marL="62230">
              <a:lnSpc>
                <a:spcPct val="100000"/>
              </a:lnSpc>
              <a:spcBef>
                <a:spcPts val="3120"/>
              </a:spcBef>
              <a:tabLst>
                <a:tab pos="354965" algn="l"/>
              </a:tabLst>
            </a:pPr>
            <a:r>
              <a:rPr lang="en-GB" sz="2600" b="1" spc="204" dirty="0">
                <a:solidFill>
                  <a:srgbClr val="222222"/>
                </a:solidFill>
                <a:latin typeface="Calibri"/>
                <a:cs typeface="Calibri"/>
              </a:rPr>
              <a:t>Next steps:</a:t>
            </a:r>
          </a:p>
          <a:p>
            <a:pPr marL="519430" indent="-457200">
              <a:lnSpc>
                <a:spcPct val="100000"/>
              </a:lnSpc>
              <a:spcBef>
                <a:spcPts val="312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GB" sz="2600" b="1" spc="204" dirty="0">
                <a:solidFill>
                  <a:srgbClr val="222222"/>
                </a:solidFill>
                <a:latin typeface="Calibri"/>
                <a:cs typeface="Calibri"/>
              </a:rPr>
              <a:t>Agentic ???</a:t>
            </a:r>
            <a:endParaRPr sz="2600" b="1" dirty="0">
              <a:latin typeface="Calibri"/>
              <a:cs typeface="Calibri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A4BE45B9-8857-223E-6ECB-16D7ADA0AD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98725">
              <a:lnSpc>
                <a:spcPct val="100000"/>
              </a:lnSpc>
              <a:spcBef>
                <a:spcPts val="100"/>
              </a:spcBef>
            </a:pPr>
            <a:r>
              <a:rPr lang="en-GB" spc="780" dirty="0"/>
              <a:t>Conclusion</a:t>
            </a:r>
            <a:endParaRPr spc="610" dirty="0"/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6674CFEE-2AEA-9D55-63D7-0B27D8637CC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53486" y="132724"/>
            <a:ext cx="2476269" cy="148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573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3723</TotalTime>
  <Words>692</Words>
  <Application>Microsoft Macintosh PowerPoint</Application>
  <PresentationFormat>Custom</PresentationFormat>
  <Paragraphs>86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Capstone Project</vt:lpstr>
      <vt:lpstr>Business Question</vt:lpstr>
      <vt:lpstr>Data Overview</vt:lpstr>
      <vt:lpstr>PowerPoint Presentation</vt:lpstr>
      <vt:lpstr>Key Insight 1 (Region)</vt:lpstr>
      <vt:lpstr>Key Insight 2 (Sector)</vt:lpstr>
      <vt:lpstr>Key Insight 3 (Trend)</vt:lpstr>
      <vt:lpstr>ML</vt:lpstr>
      <vt:lpstr>Recommendations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20: Capstone Project</dc:title>
  <cp:lastModifiedBy>Burt Browne</cp:lastModifiedBy>
  <cp:revision>8</cp:revision>
  <dcterms:created xsi:type="dcterms:W3CDTF">2025-11-30T22:04:38Z</dcterms:created>
  <dcterms:modified xsi:type="dcterms:W3CDTF">2025-12-03T12:10:46Z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2025-11-30T00:00:00Z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2025-11-30T00:00:00Z</vt:filetime>
  </property>
</Properties>
</file>